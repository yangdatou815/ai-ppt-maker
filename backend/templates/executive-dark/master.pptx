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011680"/>
            <a:ext cx="731520" cy="45720"/>
          </a:xfrm>
          <a:prstGeom prst="rect">
            <a:avLst/>
          </a:prstGeom>
          <a:solidFill>
            <a:srgbClr val="C9A2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4F1EA"/>
                </a:solidFill>
                <a:latin typeface="Source Han Serif CN"/>
              </a:rPr>
              <a:t>Cover 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A3A6AD"/>
                </a:solidFill>
                <a:latin typeface="Source Han Sans CN"/>
              </a:rPr>
              <a:t>Subtitle / one-line value proposition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3A6AD"/>
                </a:solidFill>
                <a:latin typeface="Source Han Sans CN"/>
              </a:rPr>
              <a:t>executive-dark · master.pptx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4F1EA"/>
                </a:solidFill>
                <a:latin typeface="Source Han Serif CN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731520" cy="457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4F1EA"/>
                </a:solidFill>
                <a:latin typeface="Source Han Sans CN"/>
              </a:rPr>
              <a:t>1. 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39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4F1EA"/>
                </a:solidFill>
                <a:latin typeface="Source Han Sans CN"/>
              </a:rPr>
              <a:t>2.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4F1EA"/>
                </a:solidFill>
                <a:latin typeface="Source Han Sans CN"/>
              </a:rPr>
              <a:t>3.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599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4F1EA"/>
                </a:solidFill>
                <a:latin typeface="Source Han Sans CN"/>
              </a:rPr>
              <a:t>4.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0" b="1">
                <a:solidFill>
                  <a:srgbClr val="C9A24E"/>
                </a:solidFill>
                <a:latin typeface="Source Han Serif CN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77440" y="29260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4F1EA"/>
                </a:solidFill>
                <a:latin typeface="Source Han Serif CN"/>
              </a:rPr>
              <a:t>Section Divider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4F1EA"/>
                </a:solidFill>
                <a:latin typeface="Source Han Serif CN"/>
              </a:rPr>
              <a:t>Bullets layout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548640" cy="457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4F1EA"/>
                </a:solidFill>
                <a:latin typeface="Source Han Sans CN"/>
              </a:rPr>
              <a:t>• First main point with a short clarifying clause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4F1EA"/>
                </a:solidFill>
                <a:latin typeface="Source Han Sans CN"/>
              </a:rPr>
              <a:t>• Second point — concise, action-oriented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4F1EA"/>
                </a:solidFill>
                <a:latin typeface="Source Han Sans CN"/>
              </a:rPr>
              <a:t>• Third point references prior 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66159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4F1EA"/>
                </a:solidFill>
                <a:latin typeface="Source Han Sans CN"/>
              </a:rPr>
              <a:t>• Fourth point closes the argument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4F1EA"/>
                </a:solidFill>
                <a:latin typeface="Source Han Serif CN"/>
              </a:rPr>
              <a:t>Image layout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548640" cy="457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4F1EA"/>
                </a:solidFill>
                <a:latin typeface="Source Han Sans CN"/>
              </a:rPr>
              <a:t>• Bullet on the left half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39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4F1EA"/>
                </a:solidFill>
                <a:latin typeface="Source Han Sans CN"/>
              </a:rPr>
              <a:t>• Image on the right half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4F1EA"/>
                </a:solidFill>
                <a:latin typeface="Source Han Sans CN"/>
              </a:rPr>
              <a:t>• Aspect ratio preserved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599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4F1EA"/>
                </a:solidFill>
                <a:latin typeface="Source Han Sans CN"/>
              </a:rPr>
              <a:t>• Golden-ratio framing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737360"/>
            <a:ext cx="5394960" cy="3657600"/>
          </a:xfrm>
          <a:prstGeom prst="roundRect">
            <a:avLst/>
          </a:prstGeom>
          <a:solidFill>
            <a:srgbClr val="A3A6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338328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4F1EA"/>
                </a:solidFill>
                <a:latin typeface="Source Han Sans CN"/>
              </a:rPr>
              <a:t>[ image placeholder 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4F1EA"/>
                </a:solidFill>
                <a:latin typeface="Source Han Serif CN"/>
              </a:rPr>
              <a:t>Table layout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548640" cy="457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737360"/>
          <a:ext cx="106070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5680"/>
                <a:gridCol w="3535680"/>
                <a:gridCol w="3535680"/>
              </a:tblGrid>
              <a:tr h="80010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4F1EA"/>
                          </a:solidFill>
                          <a:latin typeface="Source Han Serif CN"/>
                        </a:rPr>
                        <a:t>Metric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4F1EA"/>
                          </a:solidFill>
                          <a:latin typeface="Source Han Serif CN"/>
                        </a:rPr>
                        <a:t>Q3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4F1EA"/>
                          </a:solidFill>
                          <a:latin typeface="Source Han Serif CN"/>
                        </a:rPr>
                        <a:t>Q4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4F1EA"/>
                          </a:solidFill>
                          <a:latin typeface="Source Han Sans CN"/>
                        </a:rP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4F1EA"/>
                          </a:solidFill>
                          <a:latin typeface="Source Han Sans CN"/>
                        </a:rPr>
                        <a:t>$1.2M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4F1EA"/>
                          </a:solidFill>
                          <a:latin typeface="Source Han Sans CN"/>
                        </a:rPr>
                        <a:t>$1.8M</a:t>
                      </a:r>
                    </a:p>
                  </a:txBody>
                  <a:tcPr/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4F1EA"/>
                          </a:solidFill>
                          <a:latin typeface="Source Han Sans CN"/>
                        </a:rPr>
                        <a:t>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4F1EA"/>
                          </a:solidFill>
                          <a:latin typeface="Source Han Sans CN"/>
                        </a:rPr>
                        <a:t>12k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4F1EA"/>
                          </a:solidFill>
                          <a:latin typeface="Source Han Sans CN"/>
                        </a:rPr>
                        <a:t>21k</a:t>
                      </a:r>
                    </a:p>
                  </a:txBody>
                  <a:tcPr/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4F1EA"/>
                          </a:solidFill>
                          <a:latin typeface="Source Han Sans CN"/>
                        </a:rPr>
                        <a:t>NPS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4F1EA"/>
                          </a:solidFill>
                          <a:latin typeface="Source Han Sans CN"/>
                        </a:rP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4F1EA"/>
                          </a:solidFill>
                          <a:latin typeface="Source Han Sans CN"/>
                        </a:rPr>
                        <a:t>57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743200"/>
            <a:ext cx="731520" cy="45720"/>
          </a:xfrm>
          <a:prstGeom prst="rect">
            <a:avLst/>
          </a:prstGeom>
          <a:solidFill>
            <a:srgbClr val="C9A2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>
                <a:solidFill>
                  <a:srgbClr val="F4F1EA"/>
                </a:solidFill>
                <a:latin typeface="Source Han Serif CN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06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A3A6AD"/>
                </a:solidFill>
                <a:latin typeface="Source Han Sans CN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F4F1EA"/>
      </a:dk1>
      <a:lt1>
        <a:srgbClr val="F4F1EA"/>
      </a:lt1>
      <a:dk2>
        <a:srgbClr val="050B14"/>
      </a:dk2>
      <a:lt2>
        <a:srgbClr val="F4F1EA"/>
      </a:lt2>
      <a:accent1>
        <a:srgbClr val="0B1F3A"/>
      </a:accent1>
      <a:accent2>
        <a:srgbClr val="C9A24E"/>
      </a:accent2>
      <a:accent3>
        <a:srgbClr val="A3A6AD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Source Han Serif CN"/>
        <a:ea typeface="Source Han Serif CN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ource Han Sans CN"/>
        <a:ea typeface="Source Han Sans CN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